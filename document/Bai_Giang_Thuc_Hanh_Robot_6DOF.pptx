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DA2"/>
    <a:srgbClr val="0067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946" y="7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82896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67B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371600"/>
            <a:ext cx="5486400" cy="5486400"/>
          </a:xfrm>
          <a:prstGeom prst="ellipse">
            <a:avLst/>
          </a:prstGeom>
          <a:solidFill>
            <a:srgbClr val="0EA5E9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286000"/>
            <a:ext cx="4572000" cy="4572000"/>
          </a:xfrm>
          <a:prstGeom prst="ellipse">
            <a:avLst/>
          </a:prstGeom>
          <a:solidFill>
            <a:srgbClr val="0EA5E9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48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BAE6F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BÀI GIẢNG THỰC HÀNH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Kit IoT Robot 6DOF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AE6F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ESP32  •  PCA9685  •  Cánh tay Robot 6 bậc tự do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743200"/>
            <a:ext cx="5029200" cy="1280160"/>
          </a:xfrm>
          <a:prstGeom prst="rect">
            <a:avLst/>
          </a:prstGeom>
          <a:solidFill>
            <a:srgbClr val="1E3A5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2743200"/>
            <a:ext cx="54864" cy="12801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83464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AE6F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Môn học:</a:t>
            </a:r>
            <a:endParaRPr lang="en-US" sz="12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Điện tử </a:t>
            </a:r>
            <a:r>
              <a:rPr lang="en-US" sz="1300" dirty="0" err="1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số</a:t>
            </a:r>
            <a:r>
              <a:rPr lang="en-US" sz="13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</a:t>
            </a:r>
            <a:r>
              <a:rPr lang="en-US" sz="1300" dirty="0" err="1" smtClean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và</a:t>
            </a:r>
            <a:r>
              <a:rPr lang="en-US" sz="1300" dirty="0" smtClean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</a:t>
            </a:r>
            <a:r>
              <a:rPr lang="en-US" sz="13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Kỹ thuật vi </a:t>
            </a:r>
            <a:r>
              <a:rPr lang="en-US" sz="1300" dirty="0" err="1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xử</a:t>
            </a:r>
            <a:r>
              <a:rPr lang="en-US" sz="13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300" dirty="0" err="1" smtClean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lý</a:t>
            </a:r>
            <a:endParaRPr lang="en-US" sz="1200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577840" y="-44064"/>
            <a:ext cx="3838894" cy="575834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NỘI DUNG BÀI GIẢNG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188720"/>
            <a:ext cx="54864" cy="621792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316736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234440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A5E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Bài 1-3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651760" y="1234440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Giới thiệu Kit • Kết nối phần cứng • Nạp Firmware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31520" y="1938528"/>
            <a:ext cx="768096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31520" y="1938528"/>
            <a:ext cx="54864" cy="621792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2066544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54480" y="1984248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Bài 4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2651760" y="1984248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Điều khiển từng khớp Servo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731520" y="2688336"/>
            <a:ext cx="768096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31520" y="2688336"/>
            <a:ext cx="54864" cy="621792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2816352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54480" y="2734056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Bài 5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2651760" y="2734056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Điều khiển đồng thời &amp; Tốc độ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731520" y="3438144"/>
            <a:ext cx="768096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31520" y="3438144"/>
            <a:ext cx="54864" cy="621792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" y="356616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554480" y="3483864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Bài 6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2651760" y="3483864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Lập trình chuỗi hành động tự động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731520" y="4187952"/>
            <a:ext cx="768096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731520" y="4187952"/>
            <a:ext cx="54864" cy="621792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5840" y="4315968"/>
            <a:ext cx="365760" cy="36576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554480" y="4233672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A5E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Bài 7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2651760" y="4233672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Ứng dụng điều khiển Python + GUI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Vị trí bộ Kit trong chương trình môn học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246888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097280"/>
            <a:ext cx="54864" cy="1645920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23444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1691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Điện tử số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68680" y="20574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PWM, I2C, thanh ghi, bus dữ liệu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474720" y="1097280"/>
            <a:ext cx="246888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474720" y="1097280"/>
            <a:ext cx="54864" cy="164592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123444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611880" y="1691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Kỹ thuật vi xử lý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611880" y="20574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ESP32, GPIO, UART, Timer, firmware C/C++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217920" y="1097280"/>
            <a:ext cx="246888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217920" y="1097280"/>
            <a:ext cx="54864" cy="164592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123444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355080" y="1691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Lập trình nhúng IoT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6355080" y="20574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Mô hình IoT, Serial, Python, GUI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731520" y="29260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A5E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  Ứng dụng kiến thức lý thuyết vào thực hành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731520" y="3383280"/>
            <a:ext cx="7680960" cy="1371600"/>
          </a:xfrm>
          <a:prstGeom prst="rect">
            <a:avLst/>
          </a:prstGeom>
          <a:solidFill>
            <a:srgbClr val="F0F9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31520" y="3383280"/>
            <a:ext cx="54864" cy="13716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1" name="Text 16"/>
          <p:cNvSpPr/>
          <p:nvPr/>
        </p:nvSpPr>
        <p:spPr>
          <a:xfrm>
            <a:off x="1005840" y="347472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Lập trình và điều khiển cánh tay Robot 6DOF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1005840" y="393192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Kết nối phần cứng (I2C, servo, nguồn)  →  Nạp firmware  →  Điều khiển từng khớp  →  Phối hợp 6 khớp  →  Lập trình tự động  →  Xây dựng GUI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Bộ Kit thực hành — 3 thành phần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4" name="Image 0" descr="/home/claude/esp32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1280160"/>
            <a:ext cx="2286000" cy="1828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31089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ESP32 DevKit V1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34747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 điều khiển 32-bit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WiFi + Bluetooth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I2C Master, UART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246120" y="1097280"/>
            <a:ext cx="265176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8" name="Image 1" descr="/home/claude/pca9685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429000" y="1280160"/>
            <a:ext cx="2286000" cy="18288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337560" y="31089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PCA9685 PWM Driver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3337560" y="34747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16 kênh PWM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Giao tiếp I2C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Điều khiển 6 Servo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035040" y="1097280"/>
            <a:ext cx="265176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2" name="Image 2" descr="/home/claude/robot_arm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263640" y="1234440"/>
            <a:ext cx="2194560" cy="19202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126480" y="31089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Robot Arm 6DOF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6126480" y="34747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 khớp xoay (J0-J5)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 Servo dẫn động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Gắp, di chuyển, thả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Sơ đồ kết nối phần cứng</a:t>
            </a:r>
            <a:endParaRPr lang="en-US" sz="2600" dirty="0"/>
          </a:p>
        </p:txBody>
      </p:sp>
      <p:pic>
        <p:nvPicPr>
          <p:cNvPr id="3" name="Image 0" descr="/home/claude/wiring_diagram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005840"/>
            <a:ext cx="5029200" cy="38404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669280" y="1005840"/>
            <a:ext cx="310896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669280" y="1005840"/>
            <a:ext cx="54864" cy="38404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6" name="Text 3"/>
          <p:cNvSpPr/>
          <p:nvPr/>
        </p:nvSpPr>
        <p:spPr>
          <a:xfrm>
            <a:off x="5943600" y="1097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Kết nối chính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943600" y="1508760"/>
            <a:ext cx="2743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ESP32 GPIO21 → SDA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ESP32 GPIO22 → SCL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ESP32 GND → PCA GND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PCA9685 CH0-CH5 → 6 Servo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Nguồn 5V riêng → PCA V+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GND chung giữa tất cả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0EA5E9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840480" y="1371600"/>
            <a:ext cx="914400" cy="914400"/>
          </a:xfrm>
          <a:prstGeom prst="ellipse">
            <a:avLst/>
          </a:prstGeom>
          <a:solidFill>
            <a:srgbClr val="0EA5E9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1648" y="1572768"/>
            <a:ext cx="512064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2560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AE6F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Bài 1 — 2 — 3</a:t>
            </a:r>
            <a:endParaRPr lang="en-US" sz="2400" b="1" dirty="0"/>
          </a:p>
        </p:txBody>
      </p:sp>
      <p:sp>
        <p:nvSpPr>
          <p:cNvPr id="6" name="Text 3"/>
          <p:cNvSpPr/>
          <p:nvPr/>
        </p:nvSpPr>
        <p:spPr>
          <a:xfrm>
            <a:off x="731520" y="30175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Làm quen Kit • Kết nối phần cứng • Nạp Firmware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731520" y="38404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AE6F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Điện tử số  •  Kỹ thuật vi xử lý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Bài 1: Làm quen Kit &amp; Cài đặt môi trường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11480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54864" cy="36576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A5E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Mục tiêu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Nhận diện 3 thành phần Kit (ESP32, PCA9685, Robot Arm)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Cài đặt VS Code + PlatformIO IDE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Cài driver USB-Serial (CP210x)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Tạo project PlatformIO cho ESP32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402336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005840"/>
            <a:ext cx="54864" cy="36576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10972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Các bước chính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0" y="15087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 Mở kit, kiểm tra đủ 3 thành phần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 Nhận biết chân GPIO21 (SDA), GPIO22 (SCL)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3. Cài VS Code từ code.visualstudio.com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4. Cài PlatformIO Extension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5. Cài CP210x Driver cho USB-Serial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6. Tạo project ESP32, chọn board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Bài 2: Kết nối phần cứng I2C + Servo</a:t>
            </a:r>
            <a:endParaRPr lang="en-US" sz="2200" dirty="0"/>
          </a:p>
        </p:txBody>
      </p:sp>
      <p:pic>
        <p:nvPicPr>
          <p:cNvPr id="3" name="Image 0" descr="/home/claude/wiring_diagram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914400"/>
            <a:ext cx="4754880" cy="36576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212080" y="914400"/>
            <a:ext cx="365760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212080" y="914400"/>
            <a:ext cx="54864" cy="38404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0" y="10058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A5E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Trình tự đấu nối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0" y="1417320"/>
            <a:ext cx="3200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 Nối I2C: GPIO21 → SDA, GPIO22 → SCL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 Nối GND chung: ESP32 ↔ PCA9685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3. Cắm 6 servo vào CH0–CH5 (đúng thứ tự GND-V+-PWM)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4. Nối nguồn 5V riêng → PCA9685 V+/GND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5. Kiểm tra lại toàn bộ trước khi cấp điện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212080" y="3931920"/>
            <a:ext cx="3657600" cy="548640"/>
          </a:xfrm>
          <a:prstGeom prst="rect">
            <a:avLst/>
          </a:prstGeom>
          <a:solidFill>
            <a:srgbClr val="FFF1F2"/>
          </a:solidFill>
          <a:ln/>
        </p:spPr>
      </p:sp>
      <p:sp>
        <p:nvSpPr>
          <p:cNvPr id="9" name="Text 6"/>
          <p:cNvSpPr/>
          <p:nvPr/>
        </p:nvSpPr>
        <p:spPr>
          <a:xfrm>
            <a:off x="5394960" y="39776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44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⚠  Tách riêng nguồn logic (USB) và nguồn servo (adapter 5V)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Bài 3: Nạp Firmware &amp; Giao tiếp Serial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0972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A5E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Mã nguồn C/C++  →  Biên dịch (PlatformIO Build)  →  Nạp vào Flash (Upload)  →  Serial Monitor xác nhận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3931920" cy="24688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2286000"/>
            <a:ext cx="54864" cy="24688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377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A5E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Các bước nạp firmware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78892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 Mở project PlatformIO (Bài 1)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 Copy firmware vào thư mục src/ và include/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3. Cấu hình platformio.ini (ESP32, 115200)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4. Nhấn Build (✓) — chờ BUILD SUCCESS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5. Nhấn Upload (→) — chờ nạp xong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6. Mở Serial Monitor (baud 115200)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7. Nhấn Reset → thấy "ARM READY"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0" y="2286000"/>
            <a:ext cx="4114800" cy="182880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09160" y="2377440"/>
            <a:ext cx="3840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 Serial Monitor ---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INFO:Robot 6DOF v1.0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PCA9685 OK @ 0x40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Servos initialized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ARM READY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0" y="42062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Khi thấy "ARM READY" = firmware hoạt động, robot sẵn sàng nhận lệnh!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914400"/>
            <a:ext cx="4572000" cy="4572000"/>
          </a:xfrm>
          <a:prstGeom prst="ellipse">
            <a:avLst/>
          </a:prstGeom>
          <a:solidFill>
            <a:srgbClr val="0D9488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840480" y="1371600"/>
            <a:ext cx="914400" cy="914400"/>
          </a:xfrm>
          <a:prstGeom prst="ellipse">
            <a:avLst/>
          </a:prstGeom>
          <a:solidFill>
            <a:srgbClr val="0D9488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1648" y="1572768"/>
            <a:ext cx="512064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2560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AE6F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Bài 4</a:t>
            </a:r>
            <a:endParaRPr lang="en-US" sz="2400" b="1" dirty="0"/>
          </a:p>
        </p:txBody>
      </p:sp>
      <p:sp>
        <p:nvSpPr>
          <p:cNvPr id="6" name="Text 3"/>
          <p:cNvSpPr/>
          <p:nvPr/>
        </p:nvSpPr>
        <p:spPr>
          <a:xfrm>
            <a:off x="731520" y="3062577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Điều khiển từng khớp Servo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731520" y="38404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AE6F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Điện tử số  •  Kỹ thuật vi xử lý  •  Lập trình nhúng IoT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 khớp Robot — Thông số &amp; Lệnh điều khiển</a:t>
            </a:r>
            <a:endParaRPr lang="en-US" sz="2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228600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Khớp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Tên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Min°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Max°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Home°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Ví dụ lệnh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J0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Base (Đế)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0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180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90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M 0 45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J1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Shoulder (Vai)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70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150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70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M 1 100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J2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Elbow (Khuỷu)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0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150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90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M 2 130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J3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Wrist Pitch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0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180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90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M 3 45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J4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Wrist Roll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0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180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90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M 4 135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J5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Gripper (Kẹp)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60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120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90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M 5 60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3749040"/>
            <a:ext cx="8229600" cy="1097280"/>
          </a:xfrm>
          <a:prstGeom prst="rect">
            <a:avLst/>
          </a:prstGeom>
          <a:solidFill>
            <a:srgbClr val="F0F9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731520" y="38404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Lệnh cơ bản:   </a:t>
            </a:r>
            <a:r>
              <a:rPr lang="en-US" sz="13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&lt;id&gt; &lt;góc&gt;</a:t>
            </a:r>
            <a:r>
              <a:rPr lang="en-US" sz="1200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(di chuyển)     </a:t>
            </a:r>
            <a:r>
              <a:rPr lang="en-US" sz="13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 &lt;id&gt;</a:t>
            </a:r>
            <a:r>
              <a:rPr lang="en-US" sz="1200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(đọc góc)     </a:t>
            </a:r>
            <a:r>
              <a:rPr lang="en-US" sz="13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</a:t>
            </a:r>
            <a:r>
              <a:rPr lang="en-US" sz="1200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(Home)     </a:t>
            </a:r>
            <a:r>
              <a:rPr lang="en-US" sz="13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r>
              <a:rPr lang="en-US" sz="1200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(trạng thái)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Bài 4 — Thực hành: Lần lượt điều khiển từng khớp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5029200" cy="320040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94360" y="1097280"/>
            <a:ext cx="4754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G 0          → VAL:0:90  (đọc góc J0)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M 0 45       → OK        (xoay đế phải)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M 0 135      → OK        (xoay đế trái)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H 0          → OK        (J0 về Home)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M 1 100      → OK        (nâng vai)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M 5 60       → OK        (mở kẹp)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M 5 120      → OK        (đóng kẹp)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T            → STA:90,70,90,90,90,90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H            → OK        (tất cả về Home)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0" y="1005840"/>
            <a:ext cx="310896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0" y="1005840"/>
            <a:ext cx="54864" cy="32004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0" y="1097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Lưu ý quan trọng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0" y="1554480"/>
            <a:ext cx="2743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Gõ lệnh vào Serial Monitor, nhấn Enter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Firmware tự clamp góc nếu vượt giới hạn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Ví dụ: M 1 30 → J1 chỉ quay đến 70° (min)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Quan sát robot chuyển động khi gõ lệnh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44348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0B98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 CĐR: Điều khiển được từng khớp, đọc góc, về Home, hiểu cơ chế clamp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1828800"/>
            <a:ext cx="4572000" cy="4572000"/>
          </a:xfrm>
          <a:prstGeom prst="ellipse">
            <a:avLst/>
          </a:prstGeom>
          <a:solidFill>
            <a:srgbClr val="F59E0B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840480" y="1371600"/>
            <a:ext cx="914400" cy="914400"/>
          </a:xfrm>
          <a:prstGeom prst="ellipse">
            <a:avLst/>
          </a:prstGeom>
          <a:solidFill>
            <a:srgbClr val="F59E0B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1648" y="1572768"/>
            <a:ext cx="512064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2560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AE6F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Bài 5</a:t>
            </a:r>
            <a:endParaRPr lang="en-US" sz="2400" b="1" dirty="0"/>
          </a:p>
        </p:txBody>
      </p:sp>
      <p:sp>
        <p:nvSpPr>
          <p:cNvPr id="6" name="Text 3"/>
          <p:cNvSpPr/>
          <p:nvPr/>
        </p:nvSpPr>
        <p:spPr>
          <a:xfrm>
            <a:off x="731520" y="30175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Điều khiển đồng thời &amp; Tốc độ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731520" y="38404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AE6F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Kỹ thuật vi xử lý  •  Lập trình nhúng IoT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Bài 5 — Lệnh nâng cao: A, S, W, X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92024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54864" cy="20116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0972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16002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 chuyển 6 khớp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đồng thời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2331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45 100 130 90 90 60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60320" y="1005840"/>
            <a:ext cx="192024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0" y="1005840"/>
            <a:ext cx="54864" cy="20116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2697480" y="10972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697480" y="16002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Đặt tốc độ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(1=chậm, 15=nhanh)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97480" y="2331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0 5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1005840"/>
            <a:ext cx="192024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005840"/>
            <a:ext cx="54864" cy="20116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4800600" y="10972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800600" y="16002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Đợi hoàn thành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(trả DONE)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00600" y="2331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66560" y="1005840"/>
            <a:ext cx="192024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766560" y="1005840"/>
            <a:ext cx="54864" cy="20116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0" name="Text 18"/>
          <p:cNvSpPr/>
          <p:nvPr/>
        </p:nvSpPr>
        <p:spPr>
          <a:xfrm>
            <a:off x="6903720" y="10972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903720" y="16002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Dừng khẩn cấp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(dừng ngay)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903720" y="2331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200400"/>
            <a:ext cx="8229600" cy="164592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94360" y="3291840"/>
            <a:ext cx="7955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A 45 100 130 90 90 90   → OK  (6 khớp cùng lúc)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W                       → DONE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S 0 10                  → OK  (J0 nhanh gấp 10)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M 0 180                 → OK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X                       → OK  (DỪNG KHẨN CẤP!)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-1828800"/>
            <a:ext cx="5486400" cy="5486400"/>
          </a:xfrm>
          <a:prstGeom prst="ellipse">
            <a:avLst/>
          </a:prstGeom>
          <a:solidFill>
            <a:srgbClr val="10B981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840480" y="1371600"/>
            <a:ext cx="914400" cy="914400"/>
          </a:xfrm>
          <a:prstGeom prst="ellipse">
            <a:avLst/>
          </a:prstGeom>
          <a:solidFill>
            <a:srgbClr val="10B981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1648" y="1572768"/>
            <a:ext cx="512064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2560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AE6F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Bài 6</a:t>
            </a:r>
            <a:endParaRPr lang="en-US" sz="2400" b="1" dirty="0"/>
          </a:p>
        </p:txBody>
      </p:sp>
      <p:sp>
        <p:nvSpPr>
          <p:cNvPr id="6" name="Text 3"/>
          <p:cNvSpPr/>
          <p:nvPr/>
        </p:nvSpPr>
        <p:spPr>
          <a:xfrm>
            <a:off x="731520" y="30175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Lập trình chuỗi hành động tự động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731520" y="38404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AE6F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Lập trình nhúng IoT  •  Tổng hợp Bài 1-5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Bài 6 — Chuỗi hành động: Gắp → Di chuyển → Thả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502920" cy="50292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51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74320" y="1645920"/>
            <a:ext cx="1078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Chuẩn bị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1920240"/>
            <a:ext cx="1078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Home + đặt tốc độ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627632" y="1051560"/>
            <a:ext cx="502920" cy="50292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8" name="Text 6"/>
          <p:cNvSpPr/>
          <p:nvPr/>
        </p:nvSpPr>
        <p:spPr>
          <a:xfrm>
            <a:off x="1627632" y="1051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353312" y="1645920"/>
            <a:ext cx="1078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Mở kẹp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53312" y="1920240"/>
            <a:ext cx="1078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 5 60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06624" y="105156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2706624" y="1051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432304" y="1645920"/>
            <a:ext cx="1078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Tiếp cận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432304" y="1920240"/>
            <a:ext cx="1078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→ trên vật thể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785616" y="105156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3785616" y="1051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511296" y="1645920"/>
            <a:ext cx="1078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Hạ xuống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511296" y="1920240"/>
            <a:ext cx="1078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→ sát vật thể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64608" y="1051560"/>
            <a:ext cx="502920" cy="5029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4864608" y="1051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590288" y="1645920"/>
            <a:ext cx="1078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Gắp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90288" y="1920240"/>
            <a:ext cx="1078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 5 </a:t>
            </a:r>
            <a:r>
              <a:rPr lang="en-US" sz="1050" dirty="0" smtClean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110</a:t>
            </a:r>
          </a:p>
          <a:p>
            <a:pPr marL="0" indent="0" algn="ctr">
              <a:buNone/>
            </a:pPr>
            <a:r>
              <a:rPr lang="en-US" sz="1050" dirty="0" smtClean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050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(đóng kẹp)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943600" y="105156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0" y="1051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</a:t>
            </a: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669280" y="1645920"/>
            <a:ext cx="1078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Nâng + Xoay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669280" y="1920240"/>
            <a:ext cx="1078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+ M 0 45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022592" y="105156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7022592" y="1051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</a:t>
            </a: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748272" y="1645920"/>
            <a:ext cx="1078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Hạ + Thả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748272" y="1920240"/>
            <a:ext cx="1078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+ M 5 60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101584" y="1051560"/>
            <a:ext cx="502920" cy="50292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32" name="Text 30"/>
          <p:cNvSpPr/>
          <p:nvPr/>
        </p:nvSpPr>
        <p:spPr>
          <a:xfrm>
            <a:off x="8101584" y="1051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</a:t>
            </a: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7827264" y="1645920"/>
            <a:ext cx="1078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Về Home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827264" y="1920240"/>
            <a:ext cx="1078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57200" y="2377440"/>
            <a:ext cx="8229600" cy="246888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94360" y="2468880"/>
            <a:ext cx="7955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 → W → S 0 3 → S 1 2 → S 2 2 → S 5 5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5 60 → W                          // Mở kẹp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90 120 130 90 90 60 → W            // Tiếp cận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90 140 140 90 90 60 → W            // Hạ xuống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5 110 → W                          // GẮP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90 100 90 90 90 110 → W            // Nâng lên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0 45 → W                           // Xoay đế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45 130 130 90 90 110 → W           // Hạ xuống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5 60 → W                           // THẢ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 → W                                // Về Home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914400"/>
            <a:ext cx="4572000" cy="4572000"/>
          </a:xfrm>
          <a:prstGeom prst="ellipse">
            <a:avLst/>
          </a:prstGeom>
          <a:solidFill>
            <a:srgbClr val="0EA5E9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840480" y="1371600"/>
            <a:ext cx="914400" cy="914400"/>
          </a:xfrm>
          <a:prstGeom prst="ellipse">
            <a:avLst/>
          </a:prstGeom>
          <a:solidFill>
            <a:srgbClr val="0EA5E9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1648" y="1572768"/>
            <a:ext cx="512064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2560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AE6F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Bài 7</a:t>
            </a:r>
            <a:endParaRPr lang="en-US" sz="2400" b="1" dirty="0"/>
          </a:p>
        </p:txBody>
      </p:sp>
      <p:sp>
        <p:nvSpPr>
          <p:cNvPr id="6" name="Text 3"/>
          <p:cNvSpPr/>
          <p:nvPr/>
        </p:nvSpPr>
        <p:spPr>
          <a:xfrm>
            <a:off x="731520" y="30175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Điều khiển Robot qua Python + GUI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731520" y="38404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AE6F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Lập trình nhúng IoT  •  Python + pyserial + tkinter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0F172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Bài</a:t>
            </a:r>
            <a:r>
              <a:rPr lang="en-US" sz="2200" b="1" dirty="0">
                <a:solidFill>
                  <a:srgbClr val="0F172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2200" b="1" dirty="0" smtClean="0">
                <a:solidFill>
                  <a:srgbClr val="0F172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 </a:t>
            </a:r>
            <a:r>
              <a:rPr lang="en-US" sz="2200" b="1" dirty="0">
                <a:solidFill>
                  <a:srgbClr val="0F172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— Cài đặt Python &amp; Script kết nối đầu tiên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54864" cy="18288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A5E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Cài đặt môi trường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41732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python --version (kiểm tra Python)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pip install pyserial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Liệt kê COM: python -c "import serial.tools.list_ports; ..."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Ghi nhớ COM port (VD: COM3)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0" y="1005840"/>
            <a:ext cx="4206240" cy="338328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09160" y="1097280"/>
            <a:ext cx="39319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robot_basic.py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serial, time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robot = serial.Serial('COM3', 115200, timeout=2)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time.sleep(2)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send(cmd):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robot.write((cmd+'\n').encode())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robot.readline().decode().strip()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send('I')  # Info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send('H')  # Home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send('W')  # Wait DONE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send('M 0 45')  # Xoay đế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robot.close()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3931920" cy="640080"/>
          </a:xfrm>
          <a:prstGeom prst="rect">
            <a:avLst/>
          </a:prstGeom>
          <a:solidFill>
            <a:srgbClr val="FFF1F2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0632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F44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⚠  Đóng Serial Monitor trước khi chạy Python!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F44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Hai chương trình không dùng chung COM port.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79476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3794760"/>
            <a:ext cx="54864" cy="10972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8862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Lỗi thường gặp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42062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"could not open port" → COM sai / Monitor chưa đóng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Timeout → baud rate sai / cáp lỏng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Ký tự lạ → baud rate không khớp 115200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0F172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Bài</a:t>
            </a:r>
            <a:r>
              <a:rPr lang="en-US" sz="2200" b="1" dirty="0">
                <a:solidFill>
                  <a:srgbClr val="0F172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2200" b="1" dirty="0" smtClean="0">
                <a:solidFill>
                  <a:srgbClr val="0F172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 </a:t>
            </a:r>
            <a:r>
              <a:rPr lang="en-US" sz="2200" b="1" dirty="0">
                <a:solidFill>
                  <a:srgbClr val="0F172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— Script chuỗi hành động tự động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5029200" cy="347472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94360" y="1097280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robot_sequence.py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sequence = [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('H',                    'Về Home'),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('S 0 3',                'Tốc độ J0'),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('M 5 60',               'Mở kẹp'),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('A 90 120 130 90 90 60','Tiếp cận'),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('A 90 140 140 90 90 60','Hạ xuống'),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('M 5 110',              'GẮP'),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('A 90 100 90 90 90 110','Nâng lên'),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('M 0 45',               'Xoay đế'),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('M 5 60',               'THẢ'),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('H',                    'Về Home'),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cmd, desc in sequence: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send(cmd); wait_done()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0" y="1005840"/>
            <a:ext cx="310896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0" y="1005840"/>
            <a:ext cx="54864" cy="3474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0" y="1097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Giải thích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0" y="1508760"/>
            <a:ext cx="2743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Mỗi dòng: (lệnh, mô tả)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Vòng for gửi từng lệnh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wait_done() đợi DONE rồi tiếp tục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Sinh viên tự điều chỉnh góc theo vật thể thực tế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Dùng Bài 4-5 để thử góc trước khi lập trình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0F172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Bài</a:t>
            </a:r>
            <a:r>
              <a:rPr lang="en-US" sz="2200" b="1" dirty="0">
                <a:solidFill>
                  <a:srgbClr val="0F172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2200" b="1" dirty="0" smtClean="0">
                <a:solidFill>
                  <a:srgbClr val="0F172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 </a:t>
            </a:r>
            <a:r>
              <a:rPr lang="en-US" sz="2200" b="1" dirty="0">
                <a:solidFill>
                  <a:srgbClr val="0F172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— Giao diện GUI điều khiển Robot (tkinter)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11480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54864" cy="38404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A5E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Thành phần GUI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3657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 thanh trượt — tương ứng 6 khớp, kéo = gửi lệnh M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Nút HOME (xanh) — gửi lệnh H, reset thanh trượt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Nút TRẠNG THÁI (xám) — gửi lệnh 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Nút DỪNG KHẨN CẤP (đỏ) — gửi lệnh X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Vùng Log — hiển thị lệnh gửi &amp; phản hồi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Đóng cửa sổ — tự giải phóng COM port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4023360" cy="320040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109728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robot_gui.py (tóm tắt)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joints = [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{'name':'J0-Đế', 'ch':0, 'min':0,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'max':180, 'home':90},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... # 6 khớp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on_slider_change(ch, val):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send_command(f'M {ch} {int(val)}')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slider = tk.Scale(row,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from_=j['min'], to=j['max'],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command=lambda v, ch=j['ch']: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on_slider_change(ch, v))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4160520"/>
            <a:ext cx="8229600" cy="59436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42062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A5E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GUI (kéo slider)  →  Python (send M 0 45)  →  Serial UART  →  ESP32  →  I2C  →  PCA9685 PWM  →  Servo quay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05DA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1828800"/>
            <a:ext cx="5486400" cy="5486400"/>
          </a:xfrm>
          <a:prstGeom prst="ellipse">
            <a:avLst/>
          </a:prstGeom>
          <a:solidFill>
            <a:srgbClr val="0EA5E9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1828800"/>
            <a:ext cx="4572000" cy="4572000"/>
          </a:xfrm>
          <a:prstGeom prst="ellipse">
            <a:avLst/>
          </a:prstGeom>
          <a:solidFill>
            <a:srgbClr val="10B981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TỔNG KẾT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7680960" cy="530352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371600"/>
            <a:ext cx="54864" cy="5303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371600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Bài 1-3</a:t>
            </a:r>
            <a:endParaRPr lang="en-US" sz="1600" dirty="0">
              <a:solidFill>
                <a:srgbClr val="FFFF00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2194560" y="1371600"/>
            <a:ext cx="5943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Nhận biết Kit, kết nối I2C + servo, nạp firmware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2029968"/>
            <a:ext cx="7680960" cy="530352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029968"/>
            <a:ext cx="54864" cy="5303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029968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Bài 4</a:t>
            </a:r>
            <a:endParaRPr lang="en-US" sz="1600" dirty="0">
              <a:solidFill>
                <a:srgbClr val="FFFF00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2194560" y="2029968"/>
            <a:ext cx="5943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Điều khiển từng khớp: M, G, H, T, I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31520" y="2688336"/>
            <a:ext cx="7680960" cy="530352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2688336"/>
            <a:ext cx="54864" cy="5303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2688336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Bài 5</a:t>
            </a:r>
            <a:endParaRPr lang="en-US" sz="1600" dirty="0">
              <a:solidFill>
                <a:srgbClr val="FFFF00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2194560" y="2688336"/>
            <a:ext cx="5943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Đồng thời 6 khớp, tốc độ, đồng bộ, dừng khẩn cấp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31520" y="3346704"/>
            <a:ext cx="7680960" cy="530352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1520" y="3346704"/>
            <a:ext cx="54864" cy="5303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3346704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Bài 6</a:t>
            </a:r>
            <a:endParaRPr lang="en-US" sz="1600" dirty="0">
              <a:solidFill>
                <a:srgbClr val="FFFF00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2194560" y="3346704"/>
            <a:ext cx="5943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Chuỗi hành động tự động: gắp → di chuyển → thả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31520" y="4005072"/>
            <a:ext cx="7680960" cy="530352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31520" y="4005072"/>
            <a:ext cx="54864" cy="5303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3" name="Text 21"/>
          <p:cNvSpPr/>
          <p:nvPr/>
        </p:nvSpPr>
        <p:spPr>
          <a:xfrm>
            <a:off x="1005840" y="4005072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Bài 7</a:t>
            </a:r>
            <a:endParaRPr lang="en-US" sz="1600" dirty="0">
              <a:solidFill>
                <a:srgbClr val="FFFF00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2194560" y="4005072"/>
            <a:ext cx="5943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Python script + GUI tkinter điều khiển robot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1881</Words>
  <Application>Microsoft Office PowerPoint</Application>
  <PresentationFormat>On-screen Show (16:9)</PresentationFormat>
  <Paragraphs>323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Consolas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Bài giảng thực hành Kit IoT Robot 6DOF</dc:title>
  <dc:subject>PptxGenJS Presentation</dc:subject>
  <dc:creator>THCS Lý Thái Tổ</dc:creator>
  <cp:lastModifiedBy>Dang Hoang</cp:lastModifiedBy>
  <cp:revision>2</cp:revision>
  <dcterms:created xsi:type="dcterms:W3CDTF">2026-05-12T17:56:22Z</dcterms:created>
  <dcterms:modified xsi:type="dcterms:W3CDTF">2026-05-12T18:13:55Z</dcterms:modified>
</cp:coreProperties>
</file>